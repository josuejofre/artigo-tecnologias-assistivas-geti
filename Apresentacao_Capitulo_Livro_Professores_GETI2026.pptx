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DO APRESENTADOR (SLIDE 1 - ABERTURA):</a:t>
            </a:r>
          </a:p>
          <a:p>
            <a:r>
              <a:t>'Bom dia / boa tarde, Professores Yukio e Iraci. Apresentamos aqui a proposta ajustada do Grupo A para o nosso Capítulo de Livro e Artigo da disciplina de Gestão Estratégica da Inovação.</a:t>
            </a:r>
          </a:p>
          <a:p>
            <a:r>
              <a:t>O nosso tema é: 'Da Aquisição Transacional à Servitização Contínua em Tecnologias Assistivas no Brasil'.</a:t>
            </a:r>
          </a:p>
          <a:p>
            <a:r>
              <a:t>O Josué não pôde estar presente conosco nesta reunião por motivo de agenda profissional inadiável, mas a equipe está totalmente alinhada e estruturada para apresentar nossa evolução metodológica e teórica.</a:t>
            </a:r>
          </a:p>
          <a:p>
            <a:r>
              <a:t>Incorporamos integralmente as devolutivas da banca: retiramos termos metodologicamente inadequados (como RSL restrita), focamos na revisão robusta do estado da arte com 19 artigos já levantados em texto integral, estruturamos os objetivos no contexto Brasil e alinhamos a proposta aos ODS 8 e 10.'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DO APRESENTADOR (SLIDE 2):</a:t>
            </a:r>
          </a:p>
          <a:p>
            <a:r>
              <a:t>'Professores, o ponto de partida do nosso capítulo é resolver uma dor crônica da gestão corporativa brasileira.</a:t>
            </a:r>
          </a:p>
          <a:p>
            <a:r>
              <a:t>Hoje, as empresas compram tecnologias assistivas apenas para cumprir a Lei de Cotas (Lei 8.213/91). Compram no balcão via CAPEX, entregam o equipamento e consideram a tarefa cumprida.</a:t>
            </a:r>
          </a:p>
          <a:p>
            <a:r>
              <a:t>O resultado disso na literatura é devastador: Scherer (2005) e Sugawara (2018) mostram que entre 30% a 50% dos equipamentos são abandonados em menos de um ano por quebra, falta de manutenção ou incompatibilidade com sistemas como SAP e TOTVS.</a:t>
            </a:r>
          </a:p>
          <a:p>
            <a:r>
              <a:t>A nossa tese, embasada na literatura de Servitização (Baines et al., 2009; Tukker, 2004), é que a inclusão só se torna sustentável quando tratada como serviço contínuo (Assistive Technology as a Service - ATaaS), pago via OPEX com SLA de manutenção, hot-swap e treinamento continuado.'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DO APRESENTADOR (SLIDE 3):</a:t>
            </a:r>
          </a:p>
          <a:p>
            <a:r>
              <a:t>'Neste slide trazemos a taxonomia dos modelos de negócio que estamos mapeando no capítulo:</a:t>
            </a:r>
          </a:p>
          <a:p>
            <a:r>
              <a:t>1. ATaaS puro: assinatura com substituição rápida em 24h;</a:t>
            </a:r>
          </a:p>
          <a:p>
            <a:r>
              <a:t>2. BPO Inclusivo: outsourcing da avaliação funcional e compatibilização;</a:t>
            </a:r>
          </a:p>
          <a:p>
            <a:r>
              <a:t>3. Customização rápida por manufatura aditiva (ligada às pesquisas do LabBiAT da Profª Kunkel);</a:t>
            </a:r>
          </a:p>
          <a:p>
            <a:r>
              <a:t>4. E casos reais de mercado como Hand Talk e German Bionic.</a:t>
            </a:r>
          </a:p>
          <a:p>
            <a:r>
              <a:t>Ressaltamos a diferenciação que a colega Renata Oliveira trouxe com base na Lei Brasileira de Inclusão: TA é o recurso individual do colaborador; acessibilidade é a propriedade do sistema da firma. O papel da servitização é conectar essas duas pontas.'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DO APRESENTADOR (SLIDE 4):</a:t>
            </a:r>
          </a:p>
          <a:p>
            <a:r>
              <a:t>'Professores, atendendo à orientação de delimitar o escopo ao contexto corporativo brasileiro, refinamos a Pergunta de Pesquisa e os 3 Objetivos Específicos:</a:t>
            </a:r>
          </a:p>
          <a:p>
            <a:r>
              <a:t>- OE1: Estado da arte da literatura sobre modelos PSS e abandono de TAs;</a:t>
            </a:r>
          </a:p>
          <a:p>
            <a:r>
              <a:t>- OE2: Levantamento diagnóstico com gestores no Brasil sobre viabilidade de migração para OPEX e atrito com sistemas legados;</a:t>
            </a:r>
          </a:p>
          <a:p>
            <a:r>
              <a:t>- OE3: Recomendações gerenciais práticas adaptando frameworks de referência para a realidade das empresas nacionais.</a:t>
            </a:r>
          </a:p>
          <a:p>
            <a:r>
              <a:t>Importante destacar: não estamos nos propondo a criar um framework inédito do zero no vácuo; estamos adaptando modelos consagrados internacionalmente (Tukker, Baines, Scherer) para o contexto corporativo do Brasil.'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DO APRESENTADOR (SLIDE 5):</a:t>
            </a:r>
          </a:p>
          <a:p>
            <a:r>
              <a:t>'Professores, um ponto central que alinhamos internamente com a nossa colega Manuela Lima: como não vamos entregar um protocolo estrito de Revisão Sistemática (com protocolo PRISMA completo e tripla checagem cega), eliminamos o termo 'RSL' da nossa proposta.</a:t>
            </a:r>
          </a:p>
          <a:p>
            <a:r>
              <a:t>Adotamos a nomenclatura 'Estratégia de Busca e Mapeamento da Literatura / Estado da Arte', que é metodologicamente precisa e honesta.</a:t>
            </a:r>
          </a:p>
          <a:p>
            <a:r>
              <a:t>Apresentamos as duas strings booleanas estruturadas em 3 eixos conceituais (Servitização x Tecnologia Assistiva x Ambiente Corporativo).</a:t>
            </a:r>
          </a:p>
          <a:p>
            <a:r>
              <a:t>Como resultado direto, já temos 19 artigos acadêmicos com texto integral em PDF baixados e organizados no nosso repositório.'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DO APRESENTADOR (SLIDE 6):</a:t>
            </a:r>
          </a:p>
          <a:p>
            <a:r>
              <a:t>'Aqui articulamos a fundamentação teórica de Gestão da Inovação com as evidências empíricas dos artigos recentes.</a:t>
            </a:r>
          </a:p>
          <a:p>
            <a:r>
              <a:t>No lado da teoria da firma:</a:t>
            </a:r>
          </a:p>
          <a:p>
            <a:r>
              <a:t>- A S-D Logic de Vargo &amp; Lusch explica que o valor não está na prótese física, mas no 'valor em uso' da pessoa trabalhando;</a:t>
            </a:r>
          </a:p>
          <a:p>
            <a:r>
              <a:t>- O modelo MPT de Scherer é a ferramenta para evitar o abandono;</a:t>
            </a:r>
          </a:p>
          <a:p>
            <a:r>
              <a:t>- O PSS de Baines e Tukker fundamenta a precificação por disponibilidade.</a:t>
            </a:r>
          </a:p>
          <a:p>
            <a:r>
              <a:t>No lado empírico, destacamos dois artigos quentíssimos de 2026 recém-baixados: um que aborda a transição do abandono para a adoção, e outro que discute a superação da dependência de doações/caridade através de modelos de mercado e negócios sustentáveis.'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DO APRESENTADOR (SLIDE 7):</a:t>
            </a:r>
          </a:p>
          <a:p>
            <a:r>
              <a:t>'Para responder ao OE2, desenhamos um método misto triangulado (Mixed Methods Research).</a:t>
            </a:r>
          </a:p>
          <a:p>
            <a:r>
              <a:t>O questionário foi planejado para ser enxuto (5 a 7 minutos), estruturado em 5 blocos objetivos: perfil, governança de compras, taxas de abandono, prontidão para o modelo de assinatura (ATaaS) e interoperabilidade com TI.</a:t>
            </a:r>
          </a:p>
          <a:p>
            <a:r>
              <a:t>Como estratégia de engajamento corporativo, criamos um gatilho de reciprocidade: a empresa que responder receberá o Relatório Executivo de Benchmarking da UNIFESP.</a:t>
            </a:r>
          </a:p>
          <a:p>
            <a:r>
              <a:t>Prevemos uma meta segura de 25 a 40 respondentes no survey e 6 a 8 entrevistas qualitativas para aprofundar as nuances gerenciais.'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DO APRESENTADOR (SLIDE 8):</a:t>
            </a:r>
          </a:p>
          <a:p>
            <a:r>
              <a:t>'O produto central que pretendemos entregar no capítulo é a adaptação dos modelos clássicos de inovação (Tidd &amp; Bessant; Tukker) estruturado em 4 fases:</a:t>
            </a:r>
          </a:p>
          <a:p>
            <a:r>
              <a:t>1. Prospecção &amp; Co-Design: mapeamento prévio sem compra precipitada de prateleira;</a:t>
            </a:r>
          </a:p>
          <a:p>
            <a:r>
              <a:t>2. Mútua Adaptação: conceito clássico de Leonard-Barton, onde tecnologia e empresa se adaptam mutuamente;</a:t>
            </a:r>
          </a:p>
          <a:p>
            <a:r>
              <a:t>3. Clima de Implementação: Klein &amp; Sorra mostrando que sem apoio da liderança e treinamento da equipe, a tecnologia é boicotada;</a:t>
            </a:r>
          </a:p>
          <a:p>
            <a:r>
              <a:t>4. Sustentação com KPIs: gestão por disponibilidade e valor compartilhado ESG.'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DO APRESENTADOR (SLIDE 9):</a:t>
            </a:r>
          </a:p>
          <a:p>
            <a:r>
              <a:t>'Para garantir a entrega com excelência sem sobrecarga, dividimos a equipe em 3 frentes coordenadas:</a:t>
            </a:r>
          </a:p>
          <a:p>
            <a:r>
              <a:t>- Alexandre e Emilie na síntese dos 19 artigos da literatura;</a:t>
            </a:r>
          </a:p>
          <a:p>
            <a:r>
              <a:t>- Josué e Manuela na operação do survey e contato com as empresas;</a:t>
            </a:r>
          </a:p>
          <a:p>
            <a:r>
              <a:t>- Diana e Renata na redação, fundamentação legal (LBI) e adequação editorial.</a:t>
            </a:r>
          </a:p>
          <a:p>
            <a:r>
              <a:t>O cronograma prevê coleta de dados em outubro/novembro e entrega do texto final revisado em dezembro.'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DO APRESENTADOR (SLIDE 10 - FECHAMENTO E PERGUNTAS):</a:t>
            </a:r>
          </a:p>
          <a:p>
            <a:r>
              <a:t>'Para fechar nossa apresentação e abrir para as orientações dos Professores Yukio e Iraci, colocamos três dúvidas estratégicas na mesa:</a:t>
            </a:r>
          </a:p>
          <a:p>
            <a:r>
              <a:t>1. Validação da amostragem (25 a 40 no survey + 6 a 8 entrevistas);</a:t>
            </a:r>
          </a:p>
          <a:p>
            <a:r>
              <a:t>2. Equilíbrio teórico entre servitização, abandono MPT e capacidades de inovação;</a:t>
            </a:r>
          </a:p>
          <a:p>
            <a:r>
              <a:t>3. Orientações editoriais para desdobrar este capítulo em artigo científico de alto impacto.</a:t>
            </a:r>
          </a:p>
          <a:p>
            <a:r>
              <a:t>Agradecemos muito o tempo e as orientações dos professores e abrimos a palavra para o feedback!'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EIXO OFICIAL #65 PPGPIT / UNIFESP • VERSÃO 5.0 AJUSTADA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591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Da Aquisição Transacional à Servitização Contínua em Tecnologias Assistivas no Brasil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Gestão Estratégica da Inovação, Novos Modelos de Negócio (ATaaS), Estado da Arte da Literatura e os ODS 8 e 10.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328416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👥 Equipe do Grupo A</a:t>
            </a:r>
            <a:br/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Josué Jofre Tomaz de Almeida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Alexandre Pedroso Fernandes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Diana Cortez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Emilie Modolo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Manuela Lima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• Renata Andrea de Oliveira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874519"/>
            <a:ext cx="3328416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b="1" sz="1400">
                <a:solidFill>
                  <a:srgbClr val="818CF8"/>
                </a:solidFill>
              </a:defRPr>
            </a:pPr>
            <a:r>
              <a:t>🎓 Orientadores Vinculados</a:t>
            </a:r>
            <a:br/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• Profª. Drª. Maria Elizete Kunkel</a:t>
            </a:r>
            <a:br/>
            <a:r>
              <a:t>  (LabBiAT / UNIFESP)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• Profª. Drª. Míriam Raquel D. Zanetti</a:t>
            </a:r>
            <a:br/>
            <a:r>
              <a:t>  (UNIFESP)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• Prof. Dr. Carlos Marcelo G. de Godoy</a:t>
            </a:r>
            <a:br/>
            <a:r>
              <a:t>  (UNIFESP)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874519"/>
            <a:ext cx="3328416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b="1" sz="1400">
                <a:solidFill>
                  <a:srgbClr val="34D399"/>
                </a:solidFill>
              </a:defRPr>
            </a:pPr>
            <a:r>
              <a:t>🏛️ Docentes da Disciplina</a:t>
            </a:r>
            <a:br/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Prof. Dr. Antônio Yukio Ueta</a:t>
            </a:r>
            <a:br/>
            <a:r>
              <a:t>  (Docente GETI / PPGPIT)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Profª. Drª. Iraci de Souza João</a:t>
            </a:r>
            <a:br/>
            <a:r>
              <a:t>  (Docente GETI / PPGPIT)</a:t>
            </a:r>
            <a:br/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📚 Enquadramento:</a:t>
            </a:r>
            <a:br/>
            <a:r>
              <a:t>Capítulo de Livro (Editora Pimenta Cultural) e Artigo Científico Estruturado.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PPGPIT UNIFESP • Gestão Estratégica da Inovação Assistiva Corporativa (GETI 2026) | Slide 1 de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RESUMO EXECUTIVO COM FONTES NO 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591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 Falência da Compra Rígida e a Oportunidade em Gestão da Inovação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Por que o modelo tradicional falha e como a gestão da firma pode transformar a inclusão em capacidade sustentável.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175504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b="1" sz="1500">
                <a:solidFill>
                  <a:srgbClr val="FBBF24"/>
                </a:solidFill>
              </a:defRPr>
            </a:pPr>
            <a:r>
              <a:t>⚠️ O Gargalo Histórico no Brasil</a:t>
            </a:r>
            <a:br/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• Visão Cartorial e Compulsória: A introdução de Tecnologias Assistivas ocorre quase exclusivamente para cumprir a cota da Lei nº 8.213/91, mediante aquisições pontuais de equipamentos via CAPEX (Brasil, 1991).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• Abandono Tecnológico Crônico: Estudos seminais mostram taxas de abandono entre 30% e 50% quando o colaborador muda de função, a TA quebra ou falta adaptação contínua (Scherer, 2005; Sugawara et al., 2018).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• Incompatibilidade de TI e Processos: A empresa fornece a TA individual, mas mantém os sistemas centrais (SAP, TOTVS, intranets) inacessíveis, gerando ilhas de isolamento funcional (Leonard-Barton, 1988).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874519"/>
            <a:ext cx="5175504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b="1" sz="1500">
                <a:solidFill>
                  <a:srgbClr val="34D399"/>
                </a:solidFill>
              </a:defRPr>
            </a:pPr>
            <a:r>
              <a:t>💡 A Solução Proposta pela Gestão da Inovação</a:t>
            </a:r>
            <a:br/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• Transição Paradigmática para Servitização: Migrar da compra rígida de produtos físicos para a contratação contínua de capacidade e autonomia como serviço - ATaaS (Baines et al., 2009; Tukker, 2004).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• Mitigação do Risco Operacional: O modelo de assinatura (OPEX) transfere a manutenção, calibragem, substituição emergencial (hot-swap) e obsolescência para parceiros especializados com SLA garantido (Kowalkowski et al., 2017).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• Valor Compartilhado e Sustentabilidade (ESG): Alinhamento direto com o ODS 8 (Trabalho Decente e Produtividade) e o ODS 10 (Redução das Desigualdades) através de rotinas organizacionais maduras (ONU, 2015).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PPGPIT UNIFESP • Gestão Estratégica da Inovação Assistiva Corporativa (GETI 2026) | Slide 2 de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ESTRATÉGIAS DE SERVITIZAÇÃO &amp; REFERÊNCIAS PRÁTICAS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591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Servitização e Novos Modelos de Negócio em Tecnologia Assistiva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Como as empresas pioneiras no Brasil e no mundo estão inovando na forma de viabilizar TAs no posto de trabalho.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487168" cy="3291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1. ATaaS (As a Service)</a:t>
            </a:r>
            <a:br/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• Assinatura &amp; Locação: A empresa contrata a capacidade funcional do colaborador com SLA contratual (Tukker, 2004).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• Hot-Swap em 24h: Troca imediata do dispositivo em caso de falha técnica, sem parar a operação do trabalhador.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74519"/>
            <a:ext cx="2487168" cy="3291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300">
                <a:solidFill>
                  <a:srgbClr val="818CF8"/>
                </a:solidFill>
              </a:defRPr>
            </a:pPr>
            <a:r>
              <a:t>2. BPO Inclusivo</a:t>
            </a:r>
            <a:br/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• Managed Services: Terceirização da avaliação biopsicossocial (CIF), homologação com a TI e treino das lideranças (Chesbrough, 2003).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• Desonera o RH e a TI interna de complexidades de acessibilidade especializada.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74519"/>
            <a:ext cx="2487168" cy="3291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300">
                <a:solidFill>
                  <a:srgbClr val="FBBF24"/>
                </a:solidFill>
              </a:defRPr>
            </a:pPr>
            <a:r>
              <a:t>3. Customização Ágil</a:t>
            </a:r>
            <a:br/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• Manufatura Aditiva: Dispositivos customizados sob medida via modelagem paramétrica e impressão 3D.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• Conexão LabBiAT: Articulação direta com pesquisas da Profª Maria Elizete Kunkel na UNIFESP.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874519"/>
            <a:ext cx="2487168" cy="3291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300">
                <a:solidFill>
                  <a:srgbClr val="34D399"/>
                </a:solidFill>
              </a:defRPr>
            </a:pPr>
            <a:r>
              <a:t>4. Casos de Mercado</a:t>
            </a:r>
            <a:br/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• Hand Talk: SaaS corporativo de tradução para Libras;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• EqualWeb: IA para acessibilidade em portais e ERPs;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• German Bionic: Exoesqueletos industriais via RaaS (Robotics as a Service).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49240"/>
            <a:ext cx="10725912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b="1" sz="1100">
                <a:solidFill>
                  <a:srgbClr val="38BDF8"/>
                </a:solidFill>
              </a:defRPr>
            </a:pPr>
            <a:r>
              <a:t>⚖️ Diferenciação Conceitual Chave (LBI nº 13.146/15):</a:t>
            </a:r>
            <a:br/>
          </a:p>
          <a:p>
            <a:pPr>
              <a:defRPr sz="1000">
                <a:solidFill>
                  <a:srgbClr val="E2E8F0"/>
                </a:solidFill>
              </a:defRPr>
            </a:pPr>
            <a:r>
              <a:t>A Tecnologia Assistiva é o recurso centrado no colaborador (órtese, leitor de tela, exoesqueleto); a Acessibilidade Sistêmica é o atributo do ambiente e dos sistemas legados da firma (ERPs e processos). A servitização é o elo estratégico que integra ambos sem atritos.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PPGPIT UNIFESP • Gestão Estratégica da Inovação Assistiva Corporativa (GETI 2026) | Slide 3 de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OBJETO DE PESQUISA • DELIMITAÇÃO AO CONTEXTO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591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Pergunta de Pesquisa e Objetivos Específicos do Capítulo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Estruturação delimitada ao cenário corporativo brasileiro, articulando literatura seminal e levantamento empírico.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10725912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❓ Pergunta de Pesquisa Principal (Contexto Brasil):</a:t>
            </a:r>
            <a:br/>
          </a:p>
          <a:p>
            <a:pPr>
              <a:defRPr i="1" sz="1100">
                <a:solidFill>
                  <a:srgbClr val="F8FAFC"/>
                </a:solidFill>
              </a:defRPr>
            </a:pPr>
            <a:r>
              <a:t>"Como as empresas corporativas no Brasil podem estruturar rotinas de gestão da inovação para migrar de compras transacionais (CAPEX) para modelos de servitização contínua em tecnologia assistiva (ATaaS/OPEX), e quais determinantes organizacionais e tecnológicos condicionam a redução do abandono tecnológico e a inclusão sociolaboral sustentável (ODS 8 e 10)?"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3328416" cy="3017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OE1: Mapeamento da Literatura</a:t>
            </a:r>
            <a:br/>
          </a:p>
          <a:p>
            <a:pPr>
              <a:defRPr sz="1050">
                <a:solidFill>
                  <a:srgbClr val="E2E8F0"/>
                </a:solidFill>
              </a:defRPr>
            </a:pPr>
            <a:r>
              <a:t>Mapear no estado da arte nacional e internacional os modelos de negócio emergentes, as práticas de servitização (PSS/ATaaS) e os determinantes de abandono de TAs corporativas (Tukker, 2004; Scherer, 2005).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3246120"/>
            <a:ext cx="3328416" cy="3017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300">
                <a:solidFill>
                  <a:srgbClr val="818CF8"/>
                </a:solidFill>
              </a:defRPr>
            </a:pPr>
            <a:r>
              <a:t>OE2: Diagnóstico no Brasil (Campo)</a:t>
            </a:r>
            <a:br/>
          </a:p>
          <a:p>
            <a:pPr>
              <a:defRPr sz="1050">
                <a:solidFill>
                  <a:srgbClr val="E2E8F0"/>
                </a:solidFill>
              </a:defRPr>
            </a:pPr>
            <a:r>
              <a:t>Diagnosticar práticas em empresas no Brasil quanto à viabilidade de transição de Capex para Opex (assinatura com SLA), compatibilidade de ERPs legados e clima de implementação via survey e entrevistas com gestores.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3246120"/>
            <a:ext cx="3328416" cy="30175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b="1" sz="1300">
                <a:solidFill>
                  <a:srgbClr val="34D399"/>
                </a:solidFill>
              </a:defRPr>
            </a:pPr>
            <a:r>
              <a:t>OE3: Recomendações Gerenciais</a:t>
            </a:r>
            <a:br/>
          </a:p>
          <a:p>
            <a:pPr>
              <a:defRPr sz="1050">
                <a:solidFill>
                  <a:srgbClr val="E2E8F0"/>
                </a:solidFill>
              </a:defRPr>
            </a:pPr>
            <a:r>
              <a:t>Propor diretrizes e recomendações gerenciais para a implementação da servitização assistiva no Brasil, a partir da adaptação de frameworks seminais de PSS (Tukker, 2004; Baines et al., 2009) e MPT (Scherer, 2005).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PPGPIT UNIFESP • Gestão Estratégica da Inovação Assistiva Corporativa (GETI 2026) | Slide 4 de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MÉTODO &amp; ESTRATÉGIA DE BUSCA DA LITERATURA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591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Estratégia de Busca e Mapeamento da Literatura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Estruturação booleana em 3 eixos conceituais para mapear a servitização e modelos de negócio em TA (19 PDFs no repositório).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175504" cy="3383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b="1" sz="1300">
                <a:solidFill>
                  <a:srgbClr val="38BDF8"/>
                </a:solidFill>
              </a:defRPr>
            </a:pPr>
            <a:r>
              <a:t>🌐 String em Inglês (Scopus, WoS, OpenAlex, Europe PMC)</a:t>
            </a:r>
            <a:br/>
          </a:p>
          <a:p>
            <a:pPr>
              <a:defRPr sz="1000" b="1">
                <a:solidFill>
                  <a:srgbClr val="818CF8"/>
                </a:solidFill>
              </a:defRPr>
            </a:pPr>
            <a:r>
              <a:t>Eixo 1 (Servitização) AND Eixo 2 (TA/Acessibilidade) AND Eixo 3 (Firma/Trabalho)</a:t>
            </a:r>
            <a:br/>
          </a:p>
          <a:p>
            <a:pPr>
              <a:defRPr sz="850">
                <a:solidFill>
                  <a:srgbClr val="E2E8F0"/>
                </a:solidFill>
                <a:latin typeface="Consolas"/>
              </a:defRPr>
            </a:pPr>
            <a:r>
              <a:t>( "servitization" OR "servitisation" OR "product-service system*" OR "PSS" OR "business model*" OR "as-a-service" OR "subscription" OR "leasing" OR "rental" )</a:t>
            </a:r>
            <a:br/>
            <a:r>
              <a:t>AND</a:t>
            </a:r>
            <a:br/>
            <a:r>
              <a:t>( "assistive technology" OR "assistive technologies" OR "assistive device*" OR "workplace accessibility" OR "digital accessibility" OR "inclusive technology" )</a:t>
            </a:r>
            <a:br/>
            <a:r>
              <a:t>AND</a:t>
            </a:r>
            <a:br/>
            <a:r>
              <a:t>( "workplace" OR "corporate" OR "organization*" OR "enterprise" OR "firm" OR "employment" OR "industry" )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Filtros: Artigos revisados por pares • Período: 2018–2026 • Acesso Aberto (Open Access).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874519"/>
            <a:ext cx="5175504" cy="3383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b="1" sz="1300">
                <a:solidFill>
                  <a:srgbClr val="818CF8"/>
                </a:solidFill>
              </a:defRPr>
            </a:pPr>
            <a:r>
              <a:t>🇧🇷 String em Português (SciELO, Spell, CAPES, Google Scholar)</a:t>
            </a:r>
            <a:br/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Eixo 1 (Servitização) E Eixo 2 (TA/Acessibilidade) E Eixo 3 (Firma/Trabalho)</a:t>
            </a:r>
            <a:br/>
          </a:p>
          <a:p>
            <a:pPr>
              <a:defRPr sz="850">
                <a:solidFill>
                  <a:srgbClr val="E2E8F0"/>
                </a:solidFill>
                <a:latin typeface="Consolas"/>
              </a:defRPr>
            </a:pPr>
            <a:r>
              <a:t>( "servitização" OR "sistema produto-serviço" OR "modelo de negócio" OR "como serviço" OR "locação" OR "aluguel" OR "assinatura" )</a:t>
            </a:r>
            <a:br/>
            <a:r>
              <a:t>E</a:t>
            </a:r>
            <a:br/>
            <a:r>
              <a:t>( "tecnologia assistiva" OR "tecnologias assistivas" OR "acessibilidade no trabalho" OR "acessibilidade digital" )</a:t>
            </a:r>
            <a:br/>
            <a:r>
              <a:t>E</a:t>
            </a:r>
            <a:br/>
            <a:r>
              <a:t>( "empresa" OR "corporativo" OR "ambiente de trabalho" OR "organização" OR "posto de trabalho" )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Recorte temporal: Legislação pós-LBI (Lei nº 13.146/2015) até o presente (2026).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94960"/>
            <a:ext cx="10725912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b="1" sz="1100">
                <a:solidFill>
                  <a:srgbClr val="34D399"/>
                </a:solidFill>
              </a:defRPr>
            </a:pPr>
            <a:r>
              <a:t>📊 Resultados Já Levantados no Repositório:</a:t>
            </a:r>
            <a:br/>
          </a:p>
          <a:p>
            <a:pPr>
              <a:defRPr sz="1000">
                <a:solidFill>
                  <a:srgbClr val="E2E8F0"/>
                </a:solidFill>
              </a:defRPr>
            </a:pPr>
            <a:r>
              <a:t>Através da automação da busca via APIs científicas (OpenAlex, Europe PMC e Crossref), mapeamos 54 obras e já baixamos 19 artigos em PDF texto integral salvos no repositório GitHub para fundamentar o capítulo.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PPGPIT UNIFESP • Gestão Estratégica da Inovação Assistiva Corporativa (GETI 2026) | Slide 5 de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ESTADO DA ARTE &amp; REFERÊNCIAS TEÓRICAS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591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Fundamentação Teórica e Evidências da Literatura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Articulação entre Service-Dominant Logic (S-D Logic), Modelo MPT, PSS, TCU e os 19 PDFs baixados.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175504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📚 Literatura Seminal em Gestão da Inovação</a:t>
            </a:r>
            <a:br/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• Vargo &amp; Lusch (2016): Service-Dominant Logic (Valor em uso e coprodução biopsicossocial do benefício).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• Scherer (2005): Matching Person &amp; Technology - MPT (Prevenção preditiva ao abandono de TAs no trabalho).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• Gebauer et al. (2005): Superação do Paradoxo da Servitização via modularidade e precificação por disponibilidade.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• Baines et al. (2009) &amp; Tukker (2004): Sistemas Produto-Serviço (PSS) orientados ao resultado funcional.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• Leonard-Barton (1988) &amp; Klein &amp; Sorra (1996): Mútua Adaptação com sistemas ERPs e Clima de Implementação na firma.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• Modelagem TCU &amp; LGPD: Equação de Custo Total de Uso e governança Privacy by Design (Art. 11 da Lei 13.709/18).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874519"/>
            <a:ext cx="5175504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b="1" sz="1400">
                <a:solidFill>
                  <a:srgbClr val="34D399"/>
                </a:solidFill>
              </a:defRPr>
            </a:pPr>
            <a:r>
              <a:t>📑 Evidências Mapeadas nos 19 PDFs Baixados</a:t>
            </a:r>
            <a:br/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• From Abandonment to Adoption (2026): Fatores determinantes na transição para a adoção sustentável de TAs e redução de atritos.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• From Aid Dependency to Market Transformation (2026): Superação da lógica de caridade via modelos de mercado, negócios escaláveis e PSS.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• Business Models for Sustainable eHealth (2021): Viabilidade econômica e sustentabilidade financeira de TAs digitais como serviço.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• Digital Accessibility in Workplace (2025): Tendências e melhores práticas para interfaces acessíveis em intranets corporativas.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• Economics of Innovation in Prosthetic/Orthotics (2021): Dinâmica econômica e viabilidade de TAs customizadas sob demanda.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PPGPIT UNIFESP • Gestão Estratégica da Inovação Assistiva Corporativa (GETI 2026) | Slide 6 de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MÉTODO DE PESQUISA • TRIANGULAÇÃO METODOLÓGICA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591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Abordagem Metodológica Mista Triangulada (MMR)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Integração do mapeamento da literatura com levantamento diagnóstico (Survey) e entrevistas com gestores corporativos.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175504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📋 5 Blocos do Instrumento Survey (5 a 7 min)</a:t>
            </a:r>
            <a:br/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1. Perfil da Empresa e Respondente: Setor, porte e área do gestor (P&amp;D, D&amp;I, TI, RH);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2. Governança e Processo Decisório: Como a empresa compra TAs hoje (CAPEX vs OPEX) e envolvimento do colaborador com deficiência;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3. Atritos e Abandono Tecnológico: Incidência de obsolescência, falta de manutenção, rejeição e quebra de equipamentos;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4. Prontidão para Servitização (ATaaS): Interesse em terceirização com SLA garantido, hot-swap e consultoria de compatibilização;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5. Interoperabilidade e Sistemas Legados: Desafios de TI na integração de softwares assistivos com SAP, TOTVS e intranets.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874519"/>
            <a:ext cx="5175504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b="1" sz="1400">
                <a:solidFill>
                  <a:srgbClr val="34D399"/>
                </a:solidFill>
              </a:defRPr>
            </a:pPr>
            <a:r>
              <a:t>🚀 Estratégia de Engajamento e Amostragem</a:t>
            </a:r>
            <a:br/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• Meta Amostral Realista: 25 a 40 respondentes corporativos qualificados no questionário quantitativo;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• Entrevistas Semiestruturadas: 6 a 8 entrevistas em profundidade com gestores de grandes contas e lideranças de D&amp;I;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• Gatilho de Reciprocidade (Benchmarking): Oferta do 'Relatório Executivo de Benchmarking em Gestão Assistiva' como contrapartida aos respondentes;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• Canais de Disseminação: ABRH, grupos de C-Level no LinkedIn, redes corporativas do PIT SJC e ecossistema UNIFESP;</a:t>
            </a:r>
          </a:p>
          <a:p>
            <a:pPr>
              <a:spcAft>
                <a:spcPts val="700"/>
              </a:spcAft>
              <a:defRPr sz="1000">
                <a:solidFill>
                  <a:srgbClr val="E2E8F0"/>
                </a:solidFill>
              </a:defRPr>
            </a:pPr>
            <a:r>
              <a:t>• Triangulação de Dados: Cruzamento dos dados primários de campo com a literatura internacional de servitização.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PPGPIT UNIFESP • Gestão Estratégica da Inovação Assistiva Corporativa (GETI 2026) | Slide 7 de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PRODUTO DO CAPÍTULO • ADAPTAÇÃO DE REFERENCIAIS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591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Framework de Gestão da Inovação Assistiva Corporativa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Estruturação das 4 macro-rotinas de inovação para superação do abandono e implementação de servitização contínua.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175504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1. Prospecção &amp; Co-Design (Busca &amp; Seleção)</a:t>
            </a:r>
            <a:br/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Mapeamento biopsicossocial centrado na pessoa (CIF);</a:t>
            </a:r>
            <a:br/>
            <a:r>
              <a:t>• Homologação preliminar de TI (compatibilidade com ERPs);</a:t>
            </a:r>
            <a:br/>
            <a:r>
              <a:t>• Conexão com Open Innovation e startups especializadas.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874519"/>
            <a:ext cx="5175504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b="1" sz="1200">
                <a:solidFill>
                  <a:srgbClr val="818CF8"/>
                </a:solidFill>
              </a:defRPr>
            </a:pPr>
            <a:r>
              <a:t>2. Mútua Adaptação (Implementação Técnica)</a:t>
            </a:r>
            <a:br/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Customização ergonômica no posto real de trabalho (Leonard-Barton, 1988);</a:t>
            </a:r>
            <a:br/>
            <a:r>
              <a:t>• Adequação das APIs e intranets aos leitores de tela;</a:t>
            </a:r>
            <a:br/>
            <a:r>
              <a:t>• Ciclos ágeis de prototipagem e testes com o colaborador.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5175504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b="1" sz="1200">
                <a:solidFill>
                  <a:srgbClr val="FBBF24"/>
                </a:solidFill>
              </a:defRPr>
            </a:pPr>
            <a:r>
              <a:t>3. Clima de Implementação (Cultura &amp; Treinamento)</a:t>
            </a:r>
            <a:br/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Capacitação contínua do usuário, pares e liderança imediata (Klein &amp; Sorra, 1996);</a:t>
            </a:r>
            <a:br/>
            <a:r>
              <a:t>• Patrocínio executivo da alta direção (C-Level);</a:t>
            </a:r>
            <a:br/>
            <a:r>
              <a:t>• Eliminação de vieses capacitistas e valorização da autonomia.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4160520"/>
            <a:ext cx="5175504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b="1" sz="1200">
                <a:solidFill>
                  <a:srgbClr val="34D399"/>
                </a:solidFill>
              </a:defRPr>
            </a:pPr>
            <a:r>
              <a:t>4. Sustentação &amp; KPIs (Ciclo de Vida &amp; ESG)</a:t>
            </a:r>
            <a:br/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SLA ágil de manutenção preventiva e reposição hot-swap (Baines et al., 2009);</a:t>
            </a:r>
            <a:br/>
            <a:r>
              <a:t>• Gestão do Custo Total de Uso (TCU);</a:t>
            </a:r>
            <a:br/>
            <a:r>
              <a:t>• Monitoramento de KPIs de retenção, satisfação e avanço nos ODS 8 e 10.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PPGPIT UNIFESP • Gestão Estratégica da Inovação Assistiva Corporativa (GETI 2026) | Slide 8 de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GESTÃO DO PROJETO • DIVISÃO DO GRUPO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591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Divisão de Tarefas da Equipe e Cronograma Rumo à Publicação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Atribuições equilibradas entre os 6 membros da equipe e prazos alinhados ao edital da disciplina.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10725912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b="1" sz="1400">
                <a:solidFill>
                  <a:srgbClr val="818CF8"/>
                </a:solidFill>
              </a:defRPr>
            </a:pPr>
            <a:r>
              <a:t>📅 Cronograma Integrado &amp; Frentes de Trabalho</a:t>
            </a:r>
            <a:br/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• Frente 1: Mapeamento e Síntese Teórica da Literatura (19 artigos) — Alexandre Fernandes &amp; Emilie Modolo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  Análise de conteúdo dos PDFs baixados, extração de métricas de abandono e fundamentação dos modelos de servitização PSS.</a:t>
            </a:r>
            <a:br/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• Frente 2: Instrumento de Campo (Survey &amp; Entrevistas) — Josué Jofre &amp; Manuela Lima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  Validação das questões do Google Forms/Survey, disseminação corporativa (ABRH/LinkedIn) e coleta com gestores.</a:t>
            </a:r>
            <a:br/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• Frente 3: Redação do Capítulo &amp; Articulação Editorial — Diana Cortez &amp; Renata Oliveira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  Redação das seções conceituais (LBI, ODS 8 e 10, modelo TCU), adequação às normas da Editora Pimenta Cultural e revisão final.</a:t>
            </a:r>
            <a:br/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⏱️ Marcos Temporais (Milestones):</a:t>
            </a:r>
            <a:br/>
            <a:r>
              <a:t>  • Out/2026: Alinhamento com professores + Aplicação do Survey de campo;</a:t>
            </a:r>
            <a:br/>
            <a:r>
              <a:t>  • Nov/2026: Triangulação dos dados + Redação da versão preliminar do capítulo (V1 completa);</a:t>
            </a:r>
            <a:br/>
            <a:r>
              <a:t>  • Dez/2026: Entrega final formatada para publicação no livro e submissão do artigo.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PPGPIT UNIFESP • Gestão Estratégica da Inovação Assistiva Corporativa (GETI 2026) | Slide 9 de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TUTORIA DOCENTE • DIRECIONAMENTO E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591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Pauta Aberta para Direcionamento dos Professores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Tópicos específicos para validação e orientações dos Professores Antônio Yukio e Iraci de Souza João.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328416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1. Validação Amostral</a:t>
            </a:r>
            <a:br/>
          </a:p>
          <a:p>
            <a:pPr>
              <a:defRPr sz="1100">
                <a:solidFill>
                  <a:srgbClr val="E2E8F0"/>
                </a:solidFill>
              </a:defRPr>
            </a:pPr>
            <a:r>
              <a:t>O desenho prevê meta de 25 a 40 respondentes no Survey + 6 a 8 entrevistas com gestores.</a:t>
            </a:r>
            <a:br/>
            <a:br/>
            <a:r>
              <a:t>❓ Pergunta aos Professores:</a:t>
            </a:r>
            <a:br/>
            <a:r>
              <a:t>Consideram essa amostragem suficiente e adequada para um capítulo de livro com natureza exploratório-descritiva de diagnóstico nacional?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874519"/>
            <a:ext cx="3328416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b="1" sz="1400">
                <a:solidFill>
                  <a:srgbClr val="818CF8"/>
                </a:solidFill>
              </a:defRPr>
            </a:pPr>
            <a:r>
              <a:t>2. Equilíbrio Teórico</a:t>
            </a:r>
            <a:br/>
          </a:p>
          <a:p>
            <a:pPr>
              <a:defRPr sz="1100">
                <a:solidFill>
                  <a:srgbClr val="E2E8F0"/>
                </a:solidFill>
              </a:defRPr>
            </a:pPr>
            <a:r>
              <a:t>Articulação de Servitização (Baines / Tukker) + Abandono (Scherer MPT) + Implementação (Klein &amp; Sorra / Leonard-Barton).</a:t>
            </a:r>
            <a:br/>
            <a:br/>
            <a:r>
              <a:t>❓ Pergunta aos Professores:</a:t>
            </a:r>
            <a:br/>
            <a:r>
              <a:t>A banca sugere enfatizar mais a teoria da firma (capacidades dinâmicas) ou o foco em modelos de negócio PSS atende plenamente ao escopo da disciplina?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874519"/>
            <a:ext cx="3328416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b="1" sz="1400">
                <a:solidFill>
                  <a:srgbClr val="34D399"/>
                </a:solidFill>
              </a:defRPr>
            </a:pPr>
            <a:r>
              <a:t>3. Desdobramento Editorial</a:t>
            </a:r>
            <a:br/>
          </a:p>
          <a:p>
            <a:pPr>
              <a:defRPr sz="1100">
                <a:solidFill>
                  <a:srgbClr val="E2E8F0"/>
                </a:solidFill>
              </a:defRPr>
            </a:pPr>
            <a:r>
              <a:t>Capítulo de até 8.000 palavras no padrão da Editora Pimenta Cultural.</a:t>
            </a:r>
            <a:br/>
            <a:br/>
            <a:r>
              <a:t>❓ Pergunta aos Professores:</a:t>
            </a:r>
            <a:br/>
            <a:r>
              <a:t>Qual o direcionamento dos docentes para o desdobramento posterior em artigo de periódico (ex: RAI Revista de Administração e Inovação ou Journal of Technology Management)?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PPGPIT UNIFESP • Gestão Estratégica da Inovação Assistiva Corporativa (GETI 2026) | Slide 10 de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